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65D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5F3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中东局势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C65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冲突全景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</a:rPr>
              <a:t>美伊霍尔木兹海峡对抗 · 以色列多线作战 · 全球能源冲击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2560320" cy="457200"/>
          </a:xfrm>
          <a:prstGeom prst="rect">
            <a:avLst>
              <a:gd name="adj" fmla="val 10000"/>
            </a:avLst>
          </a:prstGeom>
          <a:solidFill>
            <a:srgbClr val="1A1F2E"/>
          </a:solidFill>
          <a:ln w="19050">
            <a:solidFill>
              <a:srgbClr val="C65D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65D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2026.04.28 — 05.08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Stamen Design 数据诗学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7页演示文稿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65D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65D3B"/>
                </a:solidFill>
              </a:rPr>
              <a:t>CHAPTER 01 ·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局势总览：四大战线并行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54530" cy="2560320"/>
          </a:xfrm>
          <a:prstGeom prst="rect">
            <a:avLst>
              <a:gd name="adj" fmla="val 37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1954530" cy="45720"/>
          </a:xfrm>
          <a:prstGeom prst="rect">
            <a:avLst>
              <a:gd name="adj" fmla="val 40000"/>
            </a:avLst>
          </a:prstGeom>
          <a:solidFill>
            <a:srgbClr val="C65D3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168021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</a:rPr>
              <a:t>美伊冲突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168021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霍尔木兹海峡爆发停火后最激烈海战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1680210" cy="320040"/>
          </a:xfrm>
          <a:prstGeom prst="rect">
            <a:avLst>
              <a:gd name="adj" fmla="val 11429"/>
            </a:avLst>
          </a:prstGeom>
          <a:solidFill>
            <a:srgbClr val="F8F6F2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606040"/>
            <a:ext cx="168021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5D3B"/>
                </a:solidFill>
              </a:rPr>
              <a:t>击沉快艇 7艘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971800"/>
            <a:ext cx="1680210" cy="320040"/>
          </a:xfrm>
          <a:prstGeom prst="rect">
            <a:avLst>
              <a:gd name="adj" fmla="val 11429"/>
            </a:avLst>
          </a:prstGeom>
          <a:solidFill>
            <a:srgbClr val="F8F6F2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971800"/>
            <a:ext cx="168021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5D3B"/>
                </a:solidFill>
              </a:rPr>
              <a:t>航运暴跌 90%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337560"/>
            <a:ext cx="1680210" cy="320040"/>
          </a:xfrm>
          <a:prstGeom prst="rect">
            <a:avLst>
              <a:gd name="adj" fmla="val 11429"/>
            </a:avLst>
          </a:prstGeom>
          <a:solidFill>
            <a:srgbClr val="F8F6F2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337560"/>
            <a:ext cx="168021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5D3B"/>
                </a:solidFill>
              </a:rPr>
              <a:t>油价跳涨 +8%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48890" y="1280160"/>
            <a:ext cx="1954530" cy="2560320"/>
          </a:xfrm>
          <a:prstGeom prst="rect">
            <a:avLst>
              <a:gd name="adj" fmla="val 37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48890" y="1280160"/>
            <a:ext cx="1954530" cy="45720"/>
          </a:xfrm>
          <a:prstGeom prst="rect">
            <a:avLst>
              <a:gd name="adj" fmla="val 40000"/>
            </a:avLst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2686050" y="1417320"/>
            <a:ext cx="168021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</a:rPr>
              <a:t>以黎冲突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86050" y="1737360"/>
            <a:ext cx="168021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距停火仅9天再度开战，贝鲁特遭袭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86050" y="2606040"/>
            <a:ext cx="1680210" cy="320040"/>
          </a:xfrm>
          <a:prstGeom prst="rect">
            <a:avLst>
              <a:gd name="adj" fmla="val 11429"/>
            </a:avLst>
          </a:prstGeom>
          <a:solidFill>
            <a:srgbClr val="F8F6F2"/>
          </a:solidFill>
          <a:ln/>
        </p:spPr>
      </p:sp>
      <p:sp>
        <p:nvSpPr>
          <p:cNvPr id="20" name="Text 18"/>
          <p:cNvSpPr/>
          <p:nvPr/>
        </p:nvSpPr>
        <p:spPr>
          <a:xfrm>
            <a:off x="2686050" y="2606040"/>
            <a:ext cx="168021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停火维持 9天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86050" y="2971800"/>
            <a:ext cx="1680210" cy="320040"/>
          </a:xfrm>
          <a:prstGeom prst="rect">
            <a:avLst>
              <a:gd name="adj" fmla="val 11429"/>
            </a:avLst>
          </a:prstGeom>
          <a:solidFill>
            <a:srgbClr val="F8F6F2"/>
          </a:solidFill>
          <a:ln/>
        </p:spPr>
      </p:sp>
      <p:sp>
        <p:nvSpPr>
          <p:cNvPr id="22" name="Text 20"/>
          <p:cNvSpPr/>
          <p:nvPr/>
        </p:nvSpPr>
        <p:spPr>
          <a:xfrm>
            <a:off x="2686050" y="2971800"/>
            <a:ext cx="168021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紧急状态至5.19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86050" y="3337560"/>
            <a:ext cx="1680210" cy="320040"/>
          </a:xfrm>
          <a:prstGeom prst="rect">
            <a:avLst>
              <a:gd name="adj" fmla="val 11429"/>
            </a:avLst>
          </a:prstGeom>
          <a:solidFill>
            <a:srgbClr val="F8F6F2"/>
          </a:solidFill>
          <a:ln/>
        </p:spPr>
      </p:sp>
      <p:sp>
        <p:nvSpPr>
          <p:cNvPr id="24" name="Text 22"/>
          <p:cNvSpPr/>
          <p:nvPr/>
        </p:nvSpPr>
        <p:spPr>
          <a:xfrm>
            <a:off x="2686050" y="3337560"/>
            <a:ext cx="168021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4条战线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40580" y="1280160"/>
            <a:ext cx="1954530" cy="2560320"/>
          </a:xfrm>
          <a:prstGeom prst="rect">
            <a:avLst>
              <a:gd name="adj" fmla="val 37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40580" y="1280160"/>
            <a:ext cx="1954530" cy="45720"/>
          </a:xfrm>
          <a:prstGeom prst="rect">
            <a:avLst>
              <a:gd name="adj" fmla="val 40000"/>
            </a:avLst>
          </a:prstGeom>
          <a:solidFill>
            <a:srgbClr val="2E3A59"/>
          </a:solidFill>
          <a:ln/>
        </p:spPr>
      </p:sp>
      <p:sp>
        <p:nvSpPr>
          <p:cNvPr id="27" name="Text 25"/>
          <p:cNvSpPr/>
          <p:nvPr/>
        </p:nvSpPr>
        <p:spPr>
          <a:xfrm>
            <a:off x="4777740" y="1417320"/>
            <a:ext cx="168021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</a:rPr>
              <a:t>加沙地带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77740" y="1737360"/>
            <a:ext cx="168021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名义停火实质未止，人道危机持续恶化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77740" y="2606040"/>
            <a:ext cx="1680210" cy="320040"/>
          </a:xfrm>
          <a:prstGeom prst="rect">
            <a:avLst>
              <a:gd name="adj" fmla="val 11429"/>
            </a:avLst>
          </a:prstGeom>
          <a:solidFill>
            <a:srgbClr val="F8F6F2"/>
          </a:solidFill>
          <a:ln/>
        </p:spPr>
      </p:sp>
      <p:sp>
        <p:nvSpPr>
          <p:cNvPr id="30" name="Text 28"/>
          <p:cNvSpPr/>
          <p:nvPr/>
        </p:nvSpPr>
        <p:spPr>
          <a:xfrm>
            <a:off x="4777740" y="2606040"/>
            <a:ext cx="168021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59"/>
                </a:solidFill>
              </a:rPr>
              <a:t>儿童失学 1亿+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77740" y="2971800"/>
            <a:ext cx="1680210" cy="320040"/>
          </a:xfrm>
          <a:prstGeom prst="rect">
            <a:avLst>
              <a:gd name="adj" fmla="val 11429"/>
            </a:avLst>
          </a:prstGeom>
          <a:solidFill>
            <a:srgbClr val="F8F6F2"/>
          </a:solidFill>
          <a:ln/>
        </p:spPr>
      </p:sp>
      <p:sp>
        <p:nvSpPr>
          <p:cNvPr id="32" name="Text 30"/>
          <p:cNvSpPr/>
          <p:nvPr/>
        </p:nvSpPr>
        <p:spPr>
          <a:xfrm>
            <a:off x="4777740" y="2971800"/>
            <a:ext cx="168021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59"/>
                </a:solidFill>
              </a:rPr>
              <a:t>危机等级 灾难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77740" y="3337560"/>
            <a:ext cx="1680210" cy="320040"/>
          </a:xfrm>
          <a:prstGeom prst="rect">
            <a:avLst>
              <a:gd name="adj" fmla="val 11429"/>
            </a:avLst>
          </a:prstGeom>
          <a:solidFill>
            <a:srgbClr val="F8F6F2"/>
          </a:solidFill>
          <a:ln/>
        </p:spPr>
      </p:sp>
      <p:sp>
        <p:nvSpPr>
          <p:cNvPr id="34" name="Text 32"/>
          <p:cNvSpPr/>
          <p:nvPr/>
        </p:nvSpPr>
        <p:spPr>
          <a:xfrm>
            <a:off x="4777740" y="3337560"/>
            <a:ext cx="168021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59"/>
                </a:solidFill>
              </a:rPr>
              <a:t>援助受阻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32270" y="1280160"/>
            <a:ext cx="1954530" cy="2560320"/>
          </a:xfrm>
          <a:prstGeom prst="rect">
            <a:avLst>
              <a:gd name="adj" fmla="val 37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32270" y="1280160"/>
            <a:ext cx="1954530" cy="45720"/>
          </a:xfrm>
          <a:prstGeom prst="rect">
            <a:avLst>
              <a:gd name="adj" fmla="val 40000"/>
            </a:avLst>
          </a:prstGeom>
          <a:solidFill>
            <a:srgbClr val="C73E3E"/>
          </a:solidFill>
          <a:ln/>
        </p:spPr>
      </p:sp>
      <p:sp>
        <p:nvSpPr>
          <p:cNvPr id="37" name="Text 35"/>
          <p:cNvSpPr/>
          <p:nvPr/>
        </p:nvSpPr>
        <p:spPr>
          <a:xfrm>
            <a:off x="6869430" y="1417320"/>
            <a:ext cx="168021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</a:rPr>
              <a:t>外交谈判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69430" y="1737360"/>
            <a:ext cx="168021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间接会谈无突破，和平协议已作废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69430" y="2606040"/>
            <a:ext cx="1680210" cy="320040"/>
          </a:xfrm>
          <a:prstGeom prst="rect">
            <a:avLst>
              <a:gd name="adj" fmla="val 11429"/>
            </a:avLst>
          </a:prstGeom>
          <a:solidFill>
            <a:srgbClr val="F8F6F2"/>
          </a:solidFill>
          <a:ln/>
        </p:spPr>
      </p:sp>
      <p:sp>
        <p:nvSpPr>
          <p:cNvPr id="40" name="Text 38"/>
          <p:cNvSpPr/>
          <p:nvPr/>
        </p:nvSpPr>
        <p:spPr>
          <a:xfrm>
            <a:off x="6869430" y="2606040"/>
            <a:ext cx="168021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3E3E"/>
                </a:solidFill>
              </a:rPr>
              <a:t>会谈 无突破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69430" y="2971800"/>
            <a:ext cx="1680210" cy="320040"/>
          </a:xfrm>
          <a:prstGeom prst="rect">
            <a:avLst>
              <a:gd name="adj" fmla="val 11429"/>
            </a:avLst>
          </a:prstGeom>
          <a:solidFill>
            <a:srgbClr val="F8F6F2"/>
          </a:solidFill>
          <a:ln/>
        </p:spPr>
      </p:sp>
      <p:sp>
        <p:nvSpPr>
          <p:cNvPr id="42" name="Text 40"/>
          <p:cNvSpPr/>
          <p:nvPr/>
        </p:nvSpPr>
        <p:spPr>
          <a:xfrm>
            <a:off x="6869430" y="2971800"/>
            <a:ext cx="168021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3E3E"/>
                </a:solidFill>
              </a:rPr>
              <a:t>协议 已作废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69430" y="3337560"/>
            <a:ext cx="1680210" cy="320040"/>
          </a:xfrm>
          <a:prstGeom prst="rect">
            <a:avLst>
              <a:gd name="adj" fmla="val 11429"/>
            </a:avLst>
          </a:prstGeom>
          <a:solidFill>
            <a:srgbClr val="F8F6F2"/>
          </a:solidFill>
          <a:ln/>
        </p:spPr>
      </p:sp>
      <p:sp>
        <p:nvSpPr>
          <p:cNvPr id="44" name="Text 42"/>
          <p:cNvSpPr/>
          <p:nvPr/>
        </p:nvSpPr>
        <p:spPr>
          <a:xfrm>
            <a:off x="6869430" y="3337560"/>
            <a:ext cx="168021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3E3E"/>
                </a:solidFill>
              </a:rPr>
              <a:t>停火概率 &lt;10%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114800"/>
            <a:ext cx="1954530" cy="731520"/>
          </a:xfrm>
          <a:prstGeom prst="rect">
            <a:avLst>
              <a:gd name="adj" fmla="val 7500"/>
            </a:avLst>
          </a:prstGeom>
          <a:solidFill>
            <a:srgbClr val="1A1F2E"/>
          </a:solidFill>
          <a:ln/>
        </p:spPr>
      </p:sp>
      <p:sp>
        <p:nvSpPr>
          <p:cNvPr id="46" name="Shape 44"/>
          <p:cNvSpPr/>
          <p:nvPr/>
        </p:nvSpPr>
        <p:spPr>
          <a:xfrm>
            <a:off x="457200" y="4114800"/>
            <a:ext cx="36576" cy="731520"/>
          </a:xfrm>
          <a:prstGeom prst="rect">
            <a:avLst/>
          </a:prstGeom>
          <a:solidFill>
            <a:srgbClr val="C65D3B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" y="4114800"/>
            <a:ext cx="168021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65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594360" y="4480560"/>
            <a:ext cx="168021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霍尔木兹海峡航运量暴跌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548890" y="4114800"/>
            <a:ext cx="1954530" cy="731520"/>
          </a:xfrm>
          <a:prstGeom prst="rect">
            <a:avLst>
              <a:gd name="adj" fmla="val 7500"/>
            </a:avLst>
          </a:prstGeom>
          <a:solidFill>
            <a:srgbClr val="1A1F2E"/>
          </a:solidFill>
          <a:ln/>
        </p:spPr>
      </p:sp>
      <p:sp>
        <p:nvSpPr>
          <p:cNvPr id="50" name="Shape 48"/>
          <p:cNvSpPr/>
          <p:nvPr/>
        </p:nvSpPr>
        <p:spPr>
          <a:xfrm>
            <a:off x="2548890" y="4114800"/>
            <a:ext cx="36576" cy="731520"/>
          </a:xfrm>
          <a:prstGeom prst="rect">
            <a:avLst/>
          </a:prstGeom>
          <a:solidFill>
            <a:srgbClr val="C73E3E"/>
          </a:solidFill>
          <a:ln/>
        </p:spPr>
      </p:sp>
      <p:sp>
        <p:nvSpPr>
          <p:cNvPr id="51" name="Text 49"/>
          <p:cNvSpPr/>
          <p:nvPr/>
        </p:nvSpPr>
        <p:spPr>
          <a:xfrm>
            <a:off x="2686050" y="4114800"/>
            <a:ext cx="168021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7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108-112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2686050" y="4480560"/>
            <a:ext cx="168021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布伦特原油 美元/桶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40580" y="4114800"/>
            <a:ext cx="1954530" cy="731520"/>
          </a:xfrm>
          <a:prstGeom prst="rect">
            <a:avLst>
              <a:gd name="adj" fmla="val 7500"/>
            </a:avLst>
          </a:prstGeom>
          <a:solidFill>
            <a:srgbClr val="1A1F2E"/>
          </a:solidFill>
          <a:ln/>
        </p:spPr>
      </p:sp>
      <p:sp>
        <p:nvSpPr>
          <p:cNvPr id="54" name="Shape 52"/>
          <p:cNvSpPr/>
          <p:nvPr/>
        </p:nvSpPr>
        <p:spPr>
          <a:xfrm>
            <a:off x="4640580" y="4114800"/>
            <a:ext cx="36576" cy="731520"/>
          </a:xfrm>
          <a:prstGeom prst="rect">
            <a:avLst/>
          </a:prstGeom>
          <a:solidFill>
            <a:srgbClr val="7D9B76"/>
          </a:solidFill>
          <a:ln/>
        </p:spPr>
      </p:sp>
      <p:sp>
        <p:nvSpPr>
          <p:cNvPr id="55" name="Text 53"/>
          <p:cNvSpPr/>
          <p:nvPr/>
        </p:nvSpPr>
        <p:spPr>
          <a:xfrm>
            <a:off x="4777740" y="4114800"/>
            <a:ext cx="168021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9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60亿$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4777740" y="4480560"/>
            <a:ext cx="168021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伊朗石油出口损失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732270" y="4114800"/>
            <a:ext cx="1954530" cy="731520"/>
          </a:xfrm>
          <a:prstGeom prst="rect">
            <a:avLst>
              <a:gd name="adj" fmla="val 7500"/>
            </a:avLst>
          </a:prstGeom>
          <a:solidFill>
            <a:srgbClr val="1A1F2E"/>
          </a:solidFill>
          <a:ln/>
        </p:spPr>
      </p:sp>
      <p:sp>
        <p:nvSpPr>
          <p:cNvPr id="58" name="Shape 56"/>
          <p:cNvSpPr/>
          <p:nvPr/>
        </p:nvSpPr>
        <p:spPr>
          <a:xfrm>
            <a:off x="6732270" y="4114800"/>
            <a:ext cx="36576" cy="731520"/>
          </a:xfrm>
          <a:prstGeom prst="rect">
            <a:avLst/>
          </a:prstGeom>
          <a:solidFill>
            <a:srgbClr val="4A5570"/>
          </a:solidFill>
          <a:ln/>
        </p:spPr>
      </p:sp>
      <p:sp>
        <p:nvSpPr>
          <p:cNvPr id="59" name="Text 57"/>
          <p:cNvSpPr/>
          <p:nvPr/>
        </p:nvSpPr>
        <p:spPr>
          <a:xfrm>
            <a:off x="6869430" y="4114800"/>
            <a:ext cx="168021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A5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250亿$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6869430" y="4480560"/>
            <a:ext cx="168021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美国战争成本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02 / 07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65D3B"/>
                </a:solidFill>
              </a:rPr>
              <a:t>CHAPTER 02 · US-IRAN CONFLICT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3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美伊冲突时间线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霍尔木兹海峡军事对抗升级全过程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09728" cy="109728"/>
          </a:xfrm>
          <a:prstGeom prst="ellipse">
            <a:avLst/>
          </a:prstGeom>
          <a:solidFill>
            <a:srgbClr val="C65D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65D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5月4日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</a:rPr>
              <a:t>美国启动"自由计划"护航行动，美军击沉7艘伊朗快艇，伊朗向美军舰及商船发射导弹/无人机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109728" cy="109728"/>
          </a:xfrm>
          <a:prstGeom prst="ellipse">
            <a:avLst/>
          </a:prstGeom>
          <a:solidFill>
            <a:srgbClr val="C65D3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574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65D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5月5日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</a:rPr>
              <a:t>鲁比奥宣布"史诗怒火行动"结束，但封锁持续。伊朗不承认美方停火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109728" cy="109728"/>
          </a:xfrm>
          <a:prstGeom prst="ellipse">
            <a:avLst/>
          </a:prstGeom>
          <a:solidFill>
            <a:srgbClr val="C65D3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432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65D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5月6日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9718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</a:rPr>
              <a:t>特朗普暂停"自由计划"。美军炸坏伊朗哈斯娜号油轮船舵，伊朗击落2架美以无人机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474720"/>
            <a:ext cx="109728" cy="109728"/>
          </a:xfrm>
          <a:prstGeom prst="ellipse">
            <a:avLst/>
          </a:prstGeom>
          <a:solidFill>
            <a:srgbClr val="C65D3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29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65D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5月7-8日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</a:rPr>
              <a:t>最激烈冲突：美军空袭伊朗沿海，伊朗发射反舰导弹宣称重创3艘宙斯盾驱逐舰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1188720"/>
            <a:ext cx="3383280" cy="1097280"/>
          </a:xfrm>
          <a:prstGeom prst="rect">
            <a:avLst>
              <a:gd name="adj" fmla="val 6667"/>
            </a:avLst>
          </a:prstGeom>
          <a:solidFill>
            <a:srgbClr val="2A1F1F"/>
          </a:solidFill>
          <a:ln w="12700">
            <a:solidFill>
              <a:srgbClr val="C65D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1280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5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300+ 艘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303520" y="1828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船只滞留霍尔木兹海峡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3520" y="2560320"/>
            <a:ext cx="1554480" cy="685800"/>
          </a:xfrm>
          <a:prstGeom prst="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2560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3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03520" y="2926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快艇击沉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95160" y="2560320"/>
            <a:ext cx="1554480" cy="685800"/>
          </a:xfrm>
          <a:prstGeom prst="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2560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3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95160" y="2926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无人机击落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0" y="3383280"/>
            <a:ext cx="1554480" cy="685800"/>
          </a:xfrm>
          <a:prstGeom prst="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3383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3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03520" y="3749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宙斯盾重创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95160" y="3383280"/>
            <a:ext cx="1554480" cy="685800"/>
          </a:xfrm>
          <a:prstGeom prst="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30" name="Text 28"/>
          <p:cNvSpPr/>
          <p:nvPr/>
        </p:nvSpPr>
        <p:spPr>
          <a:xfrm>
            <a:off x="6995160" y="3383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3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95160" y="3749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油价跳涨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03520" y="4206240"/>
            <a:ext cx="3383280" cy="731520"/>
          </a:xfrm>
          <a:prstGeom prst="rect">
            <a:avLst>
              <a:gd name="adj" fmla="val 7500"/>
            </a:avLst>
          </a:prstGeom>
          <a:solidFill>
            <a:srgbClr val="252A3A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0" y="4206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D9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60亿美元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303520" y="4617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伊朗石油出口损失 + 美国250亿美元战争成本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03 / 07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65D3B"/>
                </a:solidFill>
              </a:rPr>
              <a:t>CHAPTER 03 · ISRAEL-LEBANON &amp; GAZA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以色列-黎巴嫩冲突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840480" cy="54864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36576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</a:rPr>
              <a:t>5月2日  新一轮空袭启动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距停火仅9天，以色列发动新一轮空袭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840480" cy="54864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91640"/>
            <a:ext cx="36576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373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</a:rPr>
              <a:t>5月3日  边境冲突持续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19659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与真主党、胡塞武装交火持续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3840480" cy="54864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31720"/>
            <a:ext cx="36576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377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</a:rPr>
              <a:t>5月6日  贝鲁特遭空袭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606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打死真主党拉德万部队指挥官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3840480" cy="54864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71800"/>
            <a:ext cx="36576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0175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</a:rPr>
              <a:t>5月7日  紧急状态延长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32461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全国紧急状态延长至5月19日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1234440" cy="502920"/>
          </a:xfrm>
          <a:prstGeom prst="rect">
            <a:avLst>
              <a:gd name="adj" fmla="val 9091"/>
            </a:avLst>
          </a:prstGeom>
          <a:solidFill>
            <a:srgbClr val="1A1F2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49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3EF"/>
                </a:solidFill>
              </a:rPr>
              <a:t>9天 停火维持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783080" y="3749040"/>
            <a:ext cx="1234440" cy="502920"/>
          </a:xfrm>
          <a:prstGeom prst="rect">
            <a:avLst>
              <a:gd name="adj" fmla="val 9091"/>
            </a:avLst>
          </a:prstGeom>
          <a:solidFill>
            <a:srgbClr val="1A1F2E"/>
          </a:solidFill>
          <a:ln/>
        </p:spPr>
      </p:sp>
      <p:sp>
        <p:nvSpPr>
          <p:cNvPr id="24" name="Text 22"/>
          <p:cNvSpPr/>
          <p:nvPr/>
        </p:nvSpPr>
        <p:spPr>
          <a:xfrm>
            <a:off x="1783080" y="3749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3EF"/>
                </a:solidFill>
              </a:rPr>
              <a:t>4条 作战方向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08960" y="3749040"/>
            <a:ext cx="1234440" cy="502920"/>
          </a:xfrm>
          <a:prstGeom prst="rect">
            <a:avLst>
              <a:gd name="adj" fmla="val 9091"/>
            </a:avLst>
          </a:prstGeom>
          <a:solidFill>
            <a:srgbClr val="1A1F2E"/>
          </a:solidFill>
          <a:ln/>
        </p:spPr>
      </p:sp>
      <p:sp>
        <p:nvSpPr>
          <p:cNvPr id="26" name="Text 24"/>
          <p:cNvSpPr/>
          <p:nvPr/>
        </p:nvSpPr>
        <p:spPr>
          <a:xfrm>
            <a:off x="3108960" y="3749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3EF"/>
                </a:solidFill>
              </a:rPr>
              <a:t>70% 军工被毁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加沙地带人道危机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846320" y="1051560"/>
            <a:ext cx="3840480" cy="54864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051560"/>
            <a:ext cx="36576" cy="548640"/>
          </a:xfrm>
          <a:prstGeom prst="rect">
            <a:avLst/>
          </a:prstGeom>
          <a:solidFill>
            <a:srgbClr val="2E3A59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10972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</a:rPr>
              <a:t>持续状态  名义停火，实质冲突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13258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2025年10月名义停火，敌对行动未止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1691640"/>
            <a:ext cx="3840480" cy="54864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1691640"/>
            <a:ext cx="36576" cy="548640"/>
          </a:xfrm>
          <a:prstGeom prst="rect">
            <a:avLst/>
          </a:prstGeom>
          <a:solidFill>
            <a:srgbClr val="2E3A59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17373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</a:rPr>
              <a:t>人道援助  援助船队被拦截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83480" y="19659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以色列拦截前往加沙的人道援助船队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2331720"/>
            <a:ext cx="3840480" cy="54864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2331720"/>
            <a:ext cx="36576" cy="548640"/>
          </a:xfrm>
          <a:prstGeom prst="rect">
            <a:avLst/>
          </a:prstGeom>
          <a:solidFill>
            <a:srgbClr val="2E3A59"/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2377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</a:rPr>
              <a:t>教育危机  1亿+儿童教育中断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83480" y="2606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阿拉伯国家超1亿儿童教育中断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2971800"/>
            <a:ext cx="3840480" cy="54864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2971800"/>
            <a:ext cx="36576" cy="548640"/>
          </a:xfrm>
          <a:prstGeom prst="rect">
            <a:avLst/>
          </a:prstGeom>
          <a:solidFill>
            <a:srgbClr val="2E3A59"/>
          </a:solidFill>
          <a:ln/>
        </p:spPr>
      </p:sp>
      <p:sp>
        <p:nvSpPr>
          <p:cNvPr id="42" name="Text 40"/>
          <p:cNvSpPr/>
          <p:nvPr/>
        </p:nvSpPr>
        <p:spPr>
          <a:xfrm>
            <a:off x="4983480" y="30175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</a:rPr>
              <a:t>国际评估  灾难性人道危机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83480" y="32461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被国际组织称为"灾难性"危机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3749040"/>
            <a:ext cx="1234440" cy="502920"/>
          </a:xfrm>
          <a:prstGeom prst="rect">
            <a:avLst>
              <a:gd name="adj" fmla="val 9091"/>
            </a:avLst>
          </a:prstGeom>
          <a:solidFill>
            <a:srgbClr val="1A1F2E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3749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3EF"/>
                </a:solidFill>
              </a:rPr>
              <a:t>1亿+ 儿童失学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72200" y="3749040"/>
            <a:ext cx="1234440" cy="502920"/>
          </a:xfrm>
          <a:prstGeom prst="rect">
            <a:avLst>
              <a:gd name="adj" fmla="val 9091"/>
            </a:avLst>
          </a:prstGeom>
          <a:solidFill>
            <a:srgbClr val="1A1F2E"/>
          </a:solidFill>
          <a:ln/>
        </p:spPr>
      </p:sp>
      <p:sp>
        <p:nvSpPr>
          <p:cNvPr id="47" name="Text 45"/>
          <p:cNvSpPr/>
          <p:nvPr/>
        </p:nvSpPr>
        <p:spPr>
          <a:xfrm>
            <a:off x="6172200" y="3749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3EF"/>
                </a:solidFill>
              </a:rPr>
              <a:t>灾难 危机等级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498080" y="3749040"/>
            <a:ext cx="1234440" cy="502920"/>
          </a:xfrm>
          <a:prstGeom prst="rect">
            <a:avLst>
              <a:gd name="adj" fmla="val 9091"/>
            </a:avLst>
          </a:prstGeom>
          <a:solidFill>
            <a:srgbClr val="1A1F2E"/>
          </a:solidFill>
          <a:ln/>
        </p:spPr>
      </p:sp>
      <p:sp>
        <p:nvSpPr>
          <p:cNvPr id="49" name="Text 47"/>
          <p:cNvSpPr/>
          <p:nvPr/>
        </p:nvSpPr>
        <p:spPr>
          <a:xfrm>
            <a:off x="7498080" y="3749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3EF"/>
                </a:solidFill>
              </a:rPr>
              <a:t>持续 援助受阻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04 / 07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65D3B"/>
                </a:solidFill>
              </a:rPr>
              <a:t>CHAPTER 04 · ENERGY IMPACT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3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全球能源冲击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霍尔木兹海峡承载全球约30%海运原油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389120" cy="594360"/>
          </a:xfrm>
          <a:prstGeom prst="rect">
            <a:avLst>
              <a:gd name="adj" fmla="val 9231"/>
            </a:avLst>
          </a:prstGeom>
          <a:solidFill>
            <a:srgbClr val="252A3A"/>
          </a:solidFill>
          <a:ln w="6350">
            <a:solidFill>
              <a:srgbClr val="3A3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3EF"/>
                </a:solidFill>
              </a:rPr>
              <a:t>航运危机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海峡紧急禁航，油轮绕道好望角，运费暴涨3倍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4389120" cy="594360"/>
          </a:xfrm>
          <a:prstGeom prst="rect">
            <a:avLst>
              <a:gd name="adj" fmla="val 9231"/>
            </a:avLst>
          </a:prstGeom>
          <a:solidFill>
            <a:srgbClr val="252A3A"/>
          </a:solidFill>
          <a:ln w="6350">
            <a:solidFill>
              <a:srgbClr val="3A3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03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3EF"/>
                </a:solidFill>
              </a:rPr>
              <a:t>油价飙升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布伦特突破92美元，若完全封锁或飙至150美元+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4389120" cy="594360"/>
          </a:xfrm>
          <a:prstGeom prst="rect">
            <a:avLst>
              <a:gd name="adj" fmla="val 9231"/>
            </a:avLst>
          </a:prstGeom>
          <a:solidFill>
            <a:srgbClr val="252A3A"/>
          </a:solidFill>
          <a:ln w="6350">
            <a:solidFill>
              <a:srgbClr val="3A3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889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3EF"/>
                </a:solidFill>
              </a:rPr>
              <a:t>炼油停摆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017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阿布扎比炼厂关闭，日均190万桶炼油能力停摆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4389120" cy="594360"/>
          </a:xfrm>
          <a:prstGeom prst="rect">
            <a:avLst>
              <a:gd name="adj" fmla="val 9231"/>
            </a:avLst>
          </a:prstGeom>
          <a:solidFill>
            <a:srgbClr val="252A3A"/>
          </a:solidFill>
          <a:ln w="6350">
            <a:solidFill>
              <a:srgbClr val="3A3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747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3EF"/>
                </a:solidFill>
              </a:rPr>
              <a:t>金融去美元化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703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伊朗推动能源去美元化，与中俄本币结算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0" y="1188720"/>
            <a:ext cx="3657600" cy="1188720"/>
          </a:xfrm>
          <a:prstGeom prst="rect">
            <a:avLst>
              <a:gd name="adj" fmla="val 7692"/>
            </a:avLst>
          </a:prstGeom>
          <a:solidFill>
            <a:srgbClr val="2A1F1F"/>
          </a:solidFill>
          <a:ln w="12700">
            <a:solidFill>
              <a:srgbClr val="C65D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2344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65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502920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全球海运原油经霍尔木兹海峡运输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3657600"/>
            <a:ext cx="1051560" cy="1097280"/>
          </a:xfrm>
          <a:prstGeom prst="rect">
            <a:avLst>
              <a:gd name="adj" fmla="val 5217"/>
            </a:avLst>
          </a:prstGeom>
          <a:solidFill>
            <a:srgbClr val="4A557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4688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70"/>
                </a:solidFill>
              </a:rPr>
              <a:t>$92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480060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冲突前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63640" y="3200400"/>
            <a:ext cx="1051560" cy="1554480"/>
          </a:xfrm>
          <a:prstGeom prst="rect">
            <a:avLst>
              <a:gd name="adj" fmla="val 5217"/>
            </a:avLst>
          </a:prstGeom>
          <a:solidFill>
            <a:srgbClr val="C65D3B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24688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5D3B"/>
                </a:solidFill>
              </a:rPr>
              <a:t>$108-112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480060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当前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98080" y="2743200"/>
            <a:ext cx="1051560" cy="2011680"/>
          </a:xfrm>
          <a:prstGeom prst="rect">
            <a:avLst>
              <a:gd name="adj" fmla="val 5217"/>
            </a:avLst>
          </a:prstGeom>
          <a:solidFill>
            <a:srgbClr val="C73E3E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24688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3E3E"/>
                </a:solidFill>
              </a:rPr>
              <a:t>$150+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0" y="480060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若海峡封锁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05 / 07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65D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65D3B"/>
                </a:solidFill>
              </a:rPr>
              <a:t>CHAPTER 05 · FUTURE SCENARIOS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未来情景预测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未来三个月是关键窗口期，全面停火可能性不足10%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4864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731520" cy="365760"/>
          </a:xfrm>
          <a:prstGeom prst="roundRect">
            <a:avLst>
              <a:gd name="adj" fmla="val 37500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5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417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</a:rPr>
              <a:t>长期消耗战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1417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美以无法推翻伊朗政权，但持续施压，中东陷入"冷和平、热冲突"泥潭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54864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103120"/>
            <a:ext cx="731520" cy="365760"/>
          </a:xfrm>
          <a:prstGeom prst="roundRect">
            <a:avLst>
              <a:gd name="adj" fmla="val 37500"/>
            </a:avLst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03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9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057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</a:rPr>
              <a:t>能源脱钩加速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2057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全球能源格局重塑，伊朗与中俄本币结算扩大，石油美元体系受冲击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8229600" cy="54864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743200"/>
            <a:ext cx="731520" cy="365760"/>
          </a:xfrm>
          <a:prstGeom prst="roundRect">
            <a:avLst>
              <a:gd name="adj" fmla="val 37500"/>
            </a:avLst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43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2697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</a:rPr>
              <a:t>全面战争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2697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若误判导致核设施受损或海峡完全封锁，冲突可能升级为全面战争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8229600" cy="54864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383280"/>
            <a:ext cx="731520" cy="365760"/>
          </a:xfrm>
          <a:prstGeom prst="roundRect">
            <a:avLst>
              <a:gd name="adj" fmla="val 37500"/>
            </a:avLst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383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3A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3337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</a:rPr>
              <a:t>大国协调停火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0" y="33375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需要中美俄等大国协调一致，当前外交僵局下概率极低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8229600" cy="731520"/>
          </a:xfrm>
          <a:prstGeom prst="rect">
            <a:avLst>
              <a:gd name="adj" fmla="val 7500"/>
            </a:avLst>
          </a:prstGeom>
          <a:solidFill>
            <a:srgbClr val="1A1F2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069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</a:rPr>
              <a:t>关键判断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3EF"/>
                </a:solidFill>
              </a:rPr>
              <a:t>短期内局势难以缓和。长期消耗战是最可能路径，能源市场将持续承压，地缘政治风险溢价维持高位。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06 / 07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65D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F3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中东局势：</a:t>
            </a:r>
            <a:pPr algn="ctr" indent="0" marL="0">
              <a:buNone/>
            </a:pPr>
            <a:r>
              <a:rPr lang="en-US" sz="3200" b="1" dirty="0">
                <a:solidFill>
                  <a:srgbClr val="C65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高度紧张</a:t>
            </a:r>
            <a:pPr algn="ctr" indent="0" marL="0">
              <a:buNone/>
            </a:pPr>
            <a:r>
              <a:rPr lang="en-US" sz="3200" b="1" dirty="0">
                <a:solidFill>
                  <a:srgbClr val="F5F3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，和平前景</a:t>
            </a:r>
            <a:pPr algn="ctr" indent="0" marL="0">
              <a:buNone/>
            </a:pPr>
            <a:r>
              <a:rPr lang="en-US" sz="3200" b="1" dirty="0">
                <a:solidFill>
                  <a:srgbClr val="C65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严峻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371600" y="2194560"/>
            <a:ext cx="2103120" cy="1371600"/>
          </a:xfrm>
          <a:prstGeom prst="rect">
            <a:avLst>
              <a:gd name="adj" fmla="val 5333"/>
            </a:avLst>
          </a:prstGeom>
          <a:solidFill>
            <a:srgbClr val="252A3A"/>
          </a:solidFill>
          <a:ln w="6350">
            <a:solidFill>
              <a:srgbClr val="3A3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2860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5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条战线同时升级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美伊、以黎、加沙、外交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0" y="2194560"/>
            <a:ext cx="2103120" cy="1371600"/>
          </a:xfrm>
          <a:prstGeom prst="rect">
            <a:avLst>
              <a:gd name="adj" fmla="val 5333"/>
            </a:avLst>
          </a:prstGeom>
          <a:solidFill>
            <a:srgbClr val="252A3A"/>
          </a:solidFill>
          <a:ln w="6350">
            <a:solidFill>
              <a:srgbClr val="3A3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22860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5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931920" y="2926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霍尔木兹海峡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航运量暴跌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2194560"/>
            <a:ext cx="2103120" cy="1371600"/>
          </a:xfrm>
          <a:prstGeom prst="rect">
            <a:avLst>
              <a:gd name="adj" fmla="val 5333"/>
            </a:avLst>
          </a:prstGeom>
          <a:solidFill>
            <a:srgbClr val="252A3A"/>
          </a:solidFill>
          <a:ln w="6350">
            <a:solidFill>
              <a:srgbClr val="3A3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2860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5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92240" y="2926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全面停火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可能性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信息来源：今日头条、央视新闻、CGTN、以色列国防部、伊朗武装部队官方声明、美国中央司令部公告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文档生成时间：2026年5月8日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07 / 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中东局势分析 2026</dc:title>
  <dc:subject>PptxGenJS Presentation</dc:subject>
  <dc:creator>Clayton</dc:creator>
  <cp:lastModifiedBy>Clayton</cp:lastModifiedBy>
  <cp:revision>1</cp:revision>
  <dcterms:created xsi:type="dcterms:W3CDTF">2026-05-09T03:29:49Z</dcterms:created>
  <dcterms:modified xsi:type="dcterms:W3CDTF">2026-05-09T03:29:49Z</dcterms:modified>
</cp:coreProperties>
</file>